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1675"/>
  <p:notesSz cx="6858000" cy="9144000"/>
  <p:embeddedFontLst>
    <p:embeddedFont>
      <p:font typeface="Noto Sans KR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319438-EBBE-4EB2-BE64-9200F6BC8231}">
  <a:tblStyle styleId="{82319438-EBBE-4EB2-BE64-9200F6BC82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NotoSansKR-regular.fntdata"/><Relationship Id="rId17" Type="http://schemas.openxmlformats.org/officeDocument/2006/relationships/font" Target="fonts/NotoSansKR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(5초) 자유주제로 악성댓글 분류 + 순화 서비스를 만들었습니다.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6b1dd40075dfefa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6b1dd40075dfef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(20초) 운영자가 악성댓글을 다 지우면 댓글에 담긴 의견까지 사라집니다. 그래서 분류 모델이 댓글을 문제 없음, 불쾌한 표현, 혐오 표현으로 고르고, 생성 모델이 라벨별 지침대로 표현만 고칩니다. 마지막으로 세 가지 검사를 거쳐 그대로 게시, 순화 후 게시, 게시 보류, 사람 검토 중 하나를 권합니다.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(15초) 데이터는 사람이 라벨을 붙인 연예 뉴스 댓글 8,367건입니다. 같은 기사의 댓글이 학습과 평가에 섞이면 점수가 부풀려져서, 기사 단위로 다시 나눴습니다. 같은 기준 모델로 비교하면 0.569가 0.553으로 내려갑니다.</a:t>
            </a:r>
          </a:p>
          <a:p/>
          <a:p>
            <a:r>
              <a:t>(예상 질문) 0.553은 분할 방식만 비교하려고 train과 validation을 5번 다시 나눠 잰 평균입니다. 실제로 모델을 고른 분할의 기준 모델 validation 점수(다음 장의 0.529)와는 다른 값입니다.</a:t>
            </a:r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(25초) 분류 모델은 기준 모델인 TF-IDF와 로지스틱 회귀를 포함해 10개를 같은 분할에서 비교했습니다. 댓글로 사전학습한 KcELECTRA가 가장 좋았고, 크기가 훨씬 큰 RoBERTa-large보다도 나았습니다. 고른 뒤 test로 한 번만 평가해 Macro F1 0.667, 기준 모델은 0.540이었습니다. (그래프 값은 모델마다 가장 좋은 설정의 validation 점수이고, 시드가 여럿이면 평균입니다.)</a:t>
            </a:r>
          </a:p>
          <a:p/>
          <a:p>
            <a:r>
              <a:t>(예상 질문) 기준 모델 점수가 0.529, 0.553, 0.540으로 다른 이유 → 셋 다 TF-IDF + 로지스틱 회귀지만 잰 데이터가 다릅니다. 0.529는 이 그래프의 validation 840건, 0.553은 데이터 장에서 분할 방식만 비교하려고 train과 validation을 5번 다시 나눠 잰 평균(기사 단위), 0.540은 test 838건에서 한 번 잰 점수입니다. 그래프의 LinearSVC 0.540은 기준 모델의 test 점수와 우연히 같은 값입니다.</a:t>
            </a:r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(20초) 생성 모델도 기본값을 그대로 쓰지 않고, 설치된 로컬 모델 10개를 같은 입력으로 비교했습니다. JSON 형식을 강제하지 않으면 7개가 답을 쓰지 못해서 형식 강제를 넣었습니다. 같은 형식 강제 조건에서 gemma4:e4b가 기존 기본값보다 2.43점 높았습니다. 점수는 모델 이름을 가리고 4항목으로 채점했습니다.</a:t>
            </a:r>
          </a:p>
          <a:p/>
          <a:p>
            <a:r>
              <a:t>(예상 질문) 보고서의 2.37점은 무엇인가요? → 형식 강제 없이 쓰던 원래 설정의 qwen3:4b(3.97점)와 비교한 값입니다(6.33 - 3.97). 그래프의 3.90점은 qwen3:4b에도 형식 강제를 더한 점수라, 같은 조건으로 비교하면 2.43점입니다.</a:t>
            </a:r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(25초) 고른 로컬 모델과 상용 모델을 같은 입력 24건, 같은 지침으로 비교했습니다. 품질 차이는 우연 범위라 품질로는 고를 수 없었고, 로컬이 두 배 빠르고 요금이 없고 댓글이 밖으로 나가지 않아서 로컬을 골랐습니다. 비용은 실측이 아니라 토큰 수와 공식 단가로 계산한 추정값입니다. 다만 혐오 표현 댓글만 보면 상용이 더 나았습니다.</a:t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(25초) 결과를 원인별로 나눠 보니, 놓친 나쁜 답 대부분은 분류 모델이 악플을 문제 없음으로 고른 경우였습니다. 그래서 확신도가 낮은 '문제 없음' 판정과, 뜻이 바뀐 답을 사람 검토로 보내는 검사를 더했습니다. 나쁜 답을 게시 전에 잡는 수가 20개 중 7개에서 16개로 늘었고, 대신 사람 검토와 처리 시간이 늘었습니다. 뜻 검사는 1개만 더 잡아서 효과가 작습니다.</a:t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(영상 약 70초) 영상으로 보여 드리겠습니다. 4분 안에 여유 있게 끝내려면 영상을 70초 안으로 편집합니다(대량 검수 처리를 기다리는 구간을 빠르게 돌리거나 잘라 냄). 영상은 demo_scenario.md 순서대로 찍습니다.</a:t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(20초) 남은 한계는 혐오 표현 댓글에 약하다는 점, 분류 모델이 확신하며 틀린 댓글은 여전히 못 잡는다는 점, 뜻 검사를 아직 믿기 어렵다는 점입니다. 다음에는 혐오 표현을 게시 보류로 처리하는 정책과 분류 모델 개선을 시험하겠습니다. 감사합니다.</a:t>
            </a:r>
            <a:endParaRPr/>
          </a:p>
        </p:txBody>
      </p:sp>
      <p:sp>
        <p:nvSpPr>
          <p:cNvPr id="169" name="Google Shape;16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914400" y="1965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2차 팀 프로젝트 · 자유주제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악성댓글 분류 + 순화 서비스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악성댓글을 지우지 않고, 의견은 남기고 표현만 고칩니다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bench01 · KcELECTRA 분류 · gemma4:e4b 순화 · FastAPI + LangChain + Streamlit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ection label"/>
          <p:cNvSpPr txBox="1"/>
          <p:nvPr/>
        </p:nvSpPr>
        <p:spPr>
          <a:xfrm>
            <a:off x="548640" y="34747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01  문제와 서비스</a:t>
            </a:r>
            <a:endParaRPr/>
          </a:p>
        </p:txBody>
      </p:sp>
      <p:sp>
        <p:nvSpPr>
          <p:cNvPr id="202" name="Title"/>
          <p:cNvSpPr txBox="1"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악성댓글을 지우지 않고 고쳐 줍니다</a:t>
            </a:r>
            <a:endParaRPr/>
          </a:p>
        </p:txBody>
      </p:sp>
      <p:sp>
        <p:nvSpPr>
          <p:cNvPr id="203" name="Problem and solution"/>
          <p:cNvSpPr txBox="1"/>
          <p:nvPr/>
        </p:nvSpPr>
        <p:spPr>
          <a:xfrm>
            <a:off x="548640" y="141732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문제 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운영자가 악성댓글을 일일이 거르기 어렵고, 지우기만 하면 댓글에 담긴 의견까지 사라집니다.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해결  </a:t>
            </a:r>
            <a:r>
              <a:rPr b="0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분류 모델이 댓글의 종류를 고르고, 생성 모델이 종류별 지침대로 표현만 고쳐 씁니다.</a:t>
            </a:r>
            <a:endParaRPr/>
          </a:p>
        </p:txBody>
      </p:sp>
      <p:sp>
        <p:nvSpPr>
          <p:cNvPr id="204" name="Step 1: 댓글"/>
          <p:cNvSpPr/>
          <p:nvPr/>
        </p:nvSpPr>
        <p:spPr>
          <a:xfrm>
            <a:off x="548640" y="2377440"/>
            <a:ext cx="1582369" cy="13258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91440" lIns="64008" spcFirstLastPara="1" rIns="64008" wrap="square" tIns="9144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댓글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운영자가 받은 댓글</a:t>
            </a:r>
            <a:endParaRPr/>
          </a:p>
        </p:txBody>
      </p:sp>
      <p:sp>
        <p:nvSpPr>
          <p:cNvPr id="205" name="Arrow 1"/>
          <p:cNvSpPr txBox="1"/>
          <p:nvPr/>
        </p:nvSpPr>
        <p:spPr>
          <a:xfrm>
            <a:off x="2131009" y="2377440"/>
            <a:ext cx="320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206" name="Step 2: 분류"/>
          <p:cNvSpPr/>
          <p:nvPr/>
        </p:nvSpPr>
        <p:spPr>
          <a:xfrm>
            <a:off x="2451049" y="2377440"/>
            <a:ext cx="1582369" cy="1325880"/>
          </a:xfrm>
          <a:prstGeom prst="rect">
            <a:avLst/>
          </a:prstGeom>
          <a:noFill/>
          <a:ln w="15875">
            <a:solidFill>
              <a:srgbClr val="3451D1"/>
            </a:solidFill>
          </a:ln>
        </p:spPr>
        <p:txBody>
          <a:bodyPr anchorCtr="0" anchor="ctr" bIns="91440" lIns="64008" spcFirstLastPara="1" rIns="64008" wrap="square" tIns="9144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3451D1"/>
                </a:solidFill>
                <a:latin typeface="Noto Sans KR"/>
                <a:ea typeface="Noto Sans KR"/>
                <a:cs typeface="Noto Sans KR"/>
                <a:sym typeface="Noto Sans KR"/>
              </a:rPr>
              <a:t>분류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KcELECTRA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(직접 학습)</a:t>
            </a:r>
            <a:endParaRPr/>
          </a:p>
        </p:txBody>
      </p:sp>
      <p:sp>
        <p:nvSpPr>
          <p:cNvPr id="207" name="Arrow 2"/>
          <p:cNvSpPr txBox="1"/>
          <p:nvPr/>
        </p:nvSpPr>
        <p:spPr>
          <a:xfrm>
            <a:off x="4033418" y="2377440"/>
            <a:ext cx="320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208" name="Step 3: 지침 선택"/>
          <p:cNvSpPr/>
          <p:nvPr/>
        </p:nvSpPr>
        <p:spPr>
          <a:xfrm>
            <a:off x="4353458" y="2377440"/>
            <a:ext cx="1582369" cy="13258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91440" lIns="64008" spcFirstLastPara="1" rIns="64008" wrap="square" tIns="9144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지침 선택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LangChain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라벨별 처리 지침</a:t>
            </a:r>
            <a:endParaRPr/>
          </a:p>
        </p:txBody>
      </p:sp>
      <p:sp>
        <p:nvSpPr>
          <p:cNvPr id="209" name="Arrow 3"/>
          <p:cNvSpPr txBox="1"/>
          <p:nvPr/>
        </p:nvSpPr>
        <p:spPr>
          <a:xfrm>
            <a:off x="5935827" y="2377440"/>
            <a:ext cx="320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210" name="Step 4: 순화"/>
          <p:cNvSpPr/>
          <p:nvPr/>
        </p:nvSpPr>
        <p:spPr>
          <a:xfrm>
            <a:off x="6255867" y="2377440"/>
            <a:ext cx="1582369" cy="1325880"/>
          </a:xfrm>
          <a:prstGeom prst="rect">
            <a:avLst/>
          </a:prstGeom>
          <a:noFill/>
          <a:ln w="15875">
            <a:solidFill>
              <a:srgbClr val="3451D1"/>
            </a:solidFill>
          </a:ln>
        </p:spPr>
        <p:txBody>
          <a:bodyPr anchorCtr="0" anchor="ctr" bIns="91440" lIns="64008" spcFirstLastPara="1" rIns="64008" wrap="square" tIns="9144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3451D1"/>
                </a:solidFill>
                <a:latin typeface="Noto Sans KR"/>
                <a:ea typeface="Noto Sans KR"/>
                <a:cs typeface="Noto Sans KR"/>
                <a:sym typeface="Noto Sans KR"/>
              </a:rPr>
              <a:t>순화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gemma4:e4b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(로컬 생성 모델)</a:t>
            </a:r>
            <a:endParaRPr/>
          </a:p>
        </p:txBody>
      </p:sp>
      <p:sp>
        <p:nvSpPr>
          <p:cNvPr id="211" name="Arrow 4"/>
          <p:cNvSpPr txBox="1"/>
          <p:nvPr/>
        </p:nvSpPr>
        <p:spPr>
          <a:xfrm>
            <a:off x="7838236" y="2377440"/>
            <a:ext cx="320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212" name="Step 5: 검사 3가지"/>
          <p:cNvSpPr/>
          <p:nvPr/>
        </p:nvSpPr>
        <p:spPr>
          <a:xfrm>
            <a:off x="8158276" y="2377440"/>
            <a:ext cx="1582369" cy="13258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91440" lIns="64008" spcFirstLastPara="1" rIns="64008" wrap="square" tIns="9144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검사 3가지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확신도 · 다시 검사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뜻 검사</a:t>
            </a:r>
            <a:endParaRPr/>
          </a:p>
        </p:txBody>
      </p:sp>
      <p:sp>
        <p:nvSpPr>
          <p:cNvPr id="213" name="Arrow 5"/>
          <p:cNvSpPr txBox="1"/>
          <p:nvPr/>
        </p:nvSpPr>
        <p:spPr>
          <a:xfrm>
            <a:off x="9740645" y="2377440"/>
            <a:ext cx="320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/>
          </a:p>
        </p:txBody>
      </p:sp>
      <p:sp>
        <p:nvSpPr>
          <p:cNvPr id="214" name="Step 6: 권장 조치"/>
          <p:cNvSpPr/>
          <p:nvPr/>
        </p:nvSpPr>
        <p:spPr>
          <a:xfrm>
            <a:off x="10060685" y="2377440"/>
            <a:ext cx="1582369" cy="13258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91440" lIns="64008" spcFirstLastPara="1" rIns="64008" wrap="square" tIns="9144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권장 조치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그대로 게시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순화 후 게시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게시 보류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사람 검토</a:t>
            </a:r>
            <a:endParaRPr/>
          </a:p>
        </p:txBody>
      </p:sp>
      <p:sp>
        <p:nvSpPr>
          <p:cNvPr id="215" name="Label card: none"/>
          <p:cNvSpPr/>
          <p:nvPr/>
        </p:nvSpPr>
        <p:spPr>
          <a:xfrm>
            <a:off x="548640" y="4023360"/>
            <a:ext cx="3515258" cy="13258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none</a:t>
            </a:r>
            <a:r>
              <a:rPr b="0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  문제 없음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원문을 그대로 둡니다.</a:t>
            </a:r>
            <a:endParaRPr/>
          </a:p>
        </p:txBody>
      </p:sp>
      <p:sp>
        <p:nvSpPr>
          <p:cNvPr id="216" name="Label card: offensive"/>
          <p:cNvSpPr/>
          <p:nvPr/>
        </p:nvSpPr>
        <p:spPr>
          <a:xfrm>
            <a:off x="4338218" y="4023360"/>
            <a:ext cx="3515258" cy="13258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offensive</a:t>
            </a:r>
            <a:r>
              <a:rPr b="0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  불쾌한 표현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욕설·비꼼만 걷어 내고 의견은 남깁니다.</a:t>
            </a:r>
            <a:endParaRPr/>
          </a:p>
        </p:txBody>
      </p:sp>
      <p:sp>
        <p:nvSpPr>
          <p:cNvPr id="217" name="Label card: hate"/>
          <p:cNvSpPr/>
          <p:nvPr/>
        </p:nvSpPr>
        <p:spPr>
          <a:xfrm>
            <a:off x="8127796" y="4023360"/>
            <a:ext cx="3515258" cy="13258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700" u="none" cap="none" strike="noStrike">
                <a:solidFill>
                  <a:srgbClr val="DC2626"/>
                </a:solidFill>
                <a:latin typeface="Noto Sans KR"/>
                <a:ea typeface="Noto Sans KR"/>
                <a:cs typeface="Noto Sans KR"/>
                <a:sym typeface="Noto Sans KR"/>
              </a:rPr>
              <a:t>hate</a:t>
            </a:r>
            <a:r>
              <a:rPr b="0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  혐오 표현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혐오 표현을 지우고, 남길 의견이 없으면 게시를 보류합니다.</a:t>
            </a:r>
            <a:endParaRPr/>
          </a:p>
        </p:txBody>
      </p:sp>
      <p:sp>
        <p:nvSpPr>
          <p:cNvPr id="218" name="Takeaway"/>
          <p:cNvSpPr/>
          <p:nvPr/>
        </p:nvSpPr>
        <p:spPr>
          <a:xfrm>
            <a:off x="548640" y="5742432"/>
            <a:ext cx="11094415" cy="53035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 xml:space="preserve">→ </a:t>
            </a:r>
            <a:r>
              <a:rPr b="1" i="0" lang="ko-KR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FastAPI 서버 하나가 분류 → 순화 → 검사를 하고, 업무용 화면(Streamlit)에서 한 건씩 또는 CSV로 씁니다</a:t>
            </a:r>
            <a:endParaRPr/>
          </a:p>
        </p:txBody>
      </p:sp>
      <p:sp>
        <p:nvSpPr>
          <p:cNvPr id="219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bench01 · 자유주제: 악성댓글 분류 + 순화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548640" y="34747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02  데이터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연예 뉴스 댓글 8,367건을 기사 단위로 나눴습니다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bench01 · 자유주제: 악성댓글 분류 + 순화</a:t>
            </a:r>
            <a:endParaRPr/>
          </a:p>
        </p:txBody>
      </p:sp>
      <p:graphicFrame>
        <p:nvGraphicFramePr>
          <p:cNvPr id="103" name="Google Shape;103;p15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{82319438-EBBE-4EB2-BE64-9200F6BC8231}</a:tableStyleId>
              </a:tblPr>
              <a:tblGrid>
                <a:gridCol w="1234450"/>
                <a:gridCol w="868675"/>
                <a:gridCol w="2788925"/>
                <a:gridCol w="192025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분할</a:t>
                      </a:r>
                      <a:endParaRPr/>
                    </a:p>
                  </a:txBody>
                  <a:tcPr marT="36575" marB="36575" marR="109725" marL="109725" anchor="ctr">
                    <a:lnT w="19050" cap="flat" cmpd="sng">
                      <a:solidFill>
                        <a:srgbClr val="000000"/>
                      </a:solidFill>
                      <a:prstDash val="soli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건수</a:t>
                      </a:r>
                      <a:endParaRPr/>
                    </a:p>
                  </a:txBody>
                  <a:tcPr marT="36575" marB="36575" marR="109725" marL="109725" anchor="ctr">
                    <a:lnT w="19050" cap="flat" cmpd="sng">
                      <a:solidFill>
                        <a:srgbClr val="000000"/>
                      </a:solidFill>
                      <a:prstDash val="soli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none / offensive / hate</a:t>
                      </a:r>
                      <a:endParaRPr/>
                    </a:p>
                  </a:txBody>
                  <a:tcPr marT="36575" marB="36575" marR="109725" marL="109725" anchor="ctr">
                    <a:lnT w="19050" cap="flat" cmpd="sng">
                      <a:solidFill>
                        <a:srgbClr val="000000"/>
                      </a:solidFill>
                      <a:prstDash val="soli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용도</a:t>
                      </a:r>
                      <a:endParaRPr/>
                    </a:p>
                  </a:txBody>
                  <a:tcPr marT="36575" marB="36575" marR="109725" marL="109725" anchor="ctr">
                    <a:lnT w="19050" cap="flat" cmpd="sng">
                      <a:solidFill>
                        <a:srgbClr val="000000"/>
                      </a:solidFill>
                      <a:prstDash val="soli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train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6,689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2,940 / 2,133 / 1,616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분류 모델 학습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validation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840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380 / 261 / 199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분류 모델 고르기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test</a:t>
                      </a:r>
                      <a:endParaRPr/>
                    </a:p>
                  </a:txBody>
                  <a:tcPr marT="36575" marB="36575" marR="109725" marL="109725" anchor="ctr">
                    <a:lnB w="190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838</a:t>
                      </a:r>
                      <a:endParaRPr/>
                    </a:p>
                  </a:txBody>
                  <a:tcPr marT="36575" marB="36575" marR="109725" marL="109725" anchor="ctr">
                    <a:lnB w="190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326 / 294 / 218</a:t>
                      </a:r>
                      <a:endParaRPr/>
                    </a:p>
                  </a:txBody>
                  <a:tcPr marT="36575" marB="36575" marR="109725" marL="109725" anchor="ctr">
                    <a:lnB w="190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최종 평가 (한 번만)</a:t>
                      </a:r>
                      <a:endParaRPr/>
                    </a:p>
                  </a:txBody>
                  <a:tcPr marT="36575" marB="36575" marR="109725" marL="109725" anchor="ctr">
                    <a:lnB w="190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15"/>
          <p:cNvSpPr txBox="1"/>
          <p:nvPr/>
        </p:nvSpPr>
        <p:spPr>
          <a:xfrm>
            <a:off x="548640" y="3840480"/>
            <a:ext cx="68122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생성 모델 비교 입력: 개발 15건(validation에서), 최종 24건(test에서)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Korean HateSpeech Dataset (kocohub/korean-hate-speech, CC BY-SA 4.0). 원본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test는 정답이 공개되지 않아, 정답이 있는 train과 dev를 합쳐 다시 나눴습니다.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7680960" y="1600200"/>
            <a:ext cx="3962095" cy="310896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왜 기사 단위로?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기사의 댓글은 내용이 비슷합니다.</a:t>
            </a:r>
            <a:b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학습과 평가에 섞이면 점수가</a:t>
            </a:r>
            <a:b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부풀려집니다.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기준 모델로 5번씩 나눠 본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validation Macro F1 평균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댓글 단위로 나누면  </a:t>
            </a:r>
            <a:r>
              <a:rPr b="1" i="0" lang="en-US" sz="2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0.569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51D1"/>
                </a:solidFill>
                <a:latin typeface="Noto Sans KR"/>
                <a:ea typeface="Noto Sans KR"/>
                <a:cs typeface="Noto Sans KR"/>
                <a:sym typeface="Noto Sans KR"/>
              </a:rPr>
              <a:t>기사 단위로 나누면  </a:t>
            </a:r>
            <a:r>
              <a:rPr b="1" i="0" lang="en-US" sz="2200" u="none" cap="none" strike="noStrike">
                <a:solidFill>
                  <a:srgbClr val="3451D1"/>
                </a:solidFill>
                <a:latin typeface="Noto Sans KR"/>
                <a:ea typeface="Noto Sans KR"/>
                <a:cs typeface="Noto Sans KR"/>
                <a:sym typeface="Noto Sans KR"/>
              </a:rPr>
              <a:t>0.553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48640" y="5742432"/>
            <a:ext cx="11094415" cy="53035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점수가 부풀려지지 않게, 한 기사의 댓글은 한 분할에만 넣었습니다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548640" y="34747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03  분류 모델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분류 모델 10개 비교 → 댓글로 사전학습한 KcELECTRA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bench01 · 자유주제: 악성댓글 분류 + 순화</a:t>
            </a:r>
            <a:endParaRPr/>
          </a:p>
        </p:txBody>
      </p:sp>
      <p:pic>
        <p:nvPicPr>
          <p:cNvPr descr="chart_classifiers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19" y="1371600"/>
            <a:ext cx="6720840" cy="445028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7498079" y="1463040"/>
            <a:ext cx="4144975" cy="278892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test 838건, 한 번만 평가 (Macro F1)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3451D1"/>
                </a:solidFill>
                <a:latin typeface="Noto Sans KR"/>
                <a:ea typeface="Noto Sans KR"/>
                <a:cs typeface="Noto Sans KR"/>
                <a:sym typeface="Noto Sans KR"/>
              </a:rPr>
              <a:t>0.667</a:t>
            </a: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KcELECTRA-base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0.540</a:t>
            </a: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기준 모델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기준 모델 = TF-IDF + 로지스틱 회귀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정확도 0.671 vs 0.542 · 가장 어려운 라벨은 offensive</a:t>
            </a:r>
            <a:b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(F1 0.560)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7498079" y="4389120"/>
            <a:ext cx="4144975" cy="1143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큰 모델이 더 낫지 않았습니다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RoBERTa-large 0.666 &lt; KcELECTRA 0.699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파라미터 2.6배, 학습과 추론은 3배 느림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48640" y="5742432"/>
            <a:ext cx="11094415" cy="53035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분할·같은 조건으로 비교해 validation으로 고르고, test는 고른 뒤 한 번만 썼습니다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/>
        </p:nvSpPr>
        <p:spPr>
          <a:xfrm>
            <a:off x="548640" y="34747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04  생성 모델 고르기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로컬 생성 모델도 10개를 비교해 골랐습니다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bench01 · 자유주제: 악성댓글 분류 + 순화</a:t>
            </a:r>
            <a:endParaRPr/>
          </a:p>
        </p:txBody>
      </p:sp>
      <p:pic>
        <p:nvPicPr>
          <p:cNvPr descr="chart_local_models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19" y="1371600"/>
            <a:ext cx="6720840" cy="445028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7498079" y="1508760"/>
            <a:ext cx="4144975" cy="214884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형식 강제가 필요했습니다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JSON 형식을 프롬프트로만 요구하면 10개 중</a:t>
            </a:r>
            <a:b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7개가 형식을 어겨 답을 쓸 수 없었습니다(0점).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그래서 Ollama의 형식 강제(JSON 스키마)와</a:t>
            </a:r>
            <a:b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생각 단계 끄기를 더했습니다.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7498079" y="3840480"/>
            <a:ext cx="4144975" cy="169164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51D1"/>
                </a:solidFill>
                <a:latin typeface="Noto Sans KR"/>
                <a:ea typeface="Noto Sans KR"/>
                <a:cs typeface="Noto Sans KR"/>
                <a:sym typeface="Noto Sans KR"/>
              </a:rPr>
              <a:t>고른 모델: gemma4:e4b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형식 강제 조건에서 기존 기본값</a:t>
            </a:r>
            <a:br>
              <a:rPr sz="1400"/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qwen3:4b-instruct보다 2.43점 높음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(6.33 vs 3.90 · 95% 구간 1.03~3.93 · 15건 중</a:t>
            </a:r>
            <a:br>
              <a:rPr sz="1300"/>
            </a:b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10건에서 앞섬)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48640" y="5742432"/>
            <a:ext cx="11094415" cy="53035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기본값을 그대로 쓰지 않고, 설치된 모델 전부를 같은 입력·같은 지침으로 비교했습니다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/>
        </p:nvSpPr>
        <p:spPr>
          <a:xfrm>
            <a:off x="548640" y="34747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05  로컬 vs 상용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품질은 구분되지 않아, 빠르고 무료인 로컬을 골랐습니다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bench01 · 자유주제: 악성댓글 분류 + 순화</a:t>
            </a:r>
            <a:endParaRPr/>
          </a:p>
        </p:txBody>
      </p:sp>
      <p:graphicFrame>
        <p:nvGraphicFramePr>
          <p:cNvPr id="139" name="Google Shape;139;p18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{82319438-EBBE-4EB2-BE64-9200F6BC8231}</a:tableStyleId>
              </a:tblPr>
              <a:tblGrid>
                <a:gridCol w="1920250"/>
                <a:gridCol w="2468875"/>
                <a:gridCol w="301752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기준</a:t>
                      </a:r>
                      <a:endParaRPr/>
                    </a:p>
                  </a:txBody>
                  <a:tcPr marT="36575" marB="36575" marR="109725" marL="109725" anchor="ctr">
                    <a:lnT w="19050" cap="flat" cmpd="sng">
                      <a:solidFill>
                        <a:srgbClr val="000000"/>
                      </a:solidFill>
                      <a:prstDash val="soli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로컬 gemma4:e4b</a:t>
                      </a:r>
                      <a:endParaRPr/>
                    </a:p>
                  </a:txBody>
                  <a:tcPr marT="36575" marB="36575" marR="109725" marL="109725" anchor="ctr">
                    <a:lnT w="19050" cap="flat" cmpd="sng">
                      <a:solidFill>
                        <a:srgbClr val="000000"/>
                      </a:solidFill>
                      <a:prstDash val="soli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상용 gpt-6-luna</a:t>
                      </a:r>
                      <a:endParaRPr/>
                    </a:p>
                  </a:txBody>
                  <a:tcPr marT="36575" marB="36575" marR="109725" marL="109725" anchor="ctr">
                    <a:lnT w="19050" cap="flat" cmpd="sng">
                      <a:solidFill>
                        <a:srgbClr val="000000"/>
                      </a:solidFill>
                      <a:prstDash val="soli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품질 (8점 만점)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6.21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6.54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평균 응답 시간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3451D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1.13초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2.23초 (네트워크 포함)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API 비용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3451D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없음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1,000건당 약 $0.057 (추정)</a:t>
                      </a:r>
                      <a:endParaRPr/>
                    </a:p>
                  </a:txBody>
                  <a:tcPr marT="36575" marB="36575" marR="109725" marL="109725" anchor="ctr">
                    <a:lnB w="63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</a:t>
                      </a:r>
                      <a:endParaRPr/>
                    </a:p>
                  </a:txBody>
                  <a:tcPr marT="36575" marB="36575" marR="109725" marL="109725" anchor="ctr">
                    <a:lnB w="190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3451D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노트북 밖으로 안 나감</a:t>
                      </a:r>
                      <a:endParaRPr/>
                    </a:p>
                  </a:txBody>
                  <a:tcPr marT="36575" marB="36575" marR="109725" marL="109725" anchor="ctr">
                    <a:lnB w="190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OpenAI 서버로 감</a:t>
                      </a:r>
                      <a:endParaRPr/>
                    </a:p>
                  </a:txBody>
                  <a:tcPr marT="36575" marB="36575" marR="109725" marL="109725" anchor="ctr">
                    <a:lnB w="19050" cap="flat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8"/>
          <p:cNvSpPr/>
          <p:nvPr/>
        </p:nvSpPr>
        <p:spPr>
          <a:xfrm>
            <a:off x="8229600" y="1554480"/>
            <a:ext cx="3413455" cy="27432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품질 차이 (로컬 - 상용)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3451D1"/>
                </a:solidFill>
                <a:latin typeface="Noto Sans KR"/>
                <a:ea typeface="Noto Sans KR"/>
                <a:cs typeface="Noto Sans KR"/>
                <a:sym typeface="Noto Sans KR"/>
              </a:rPr>
              <a:t>-0.33점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95% 구간 -0.94 ~ +0.08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0을 포함하므로 우연 범위입니다.</a:t>
            </a:r>
            <a:b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품질로는 고를 수 없었습니다.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Noto Sans KR"/>
                <a:ea typeface="Noto Sans KR"/>
                <a:cs typeface="Noto Sans KR"/>
                <a:sym typeface="Noto Sans KR"/>
              </a:rPr>
              <a:t>단, hate만 보면 로컬 4.75 &lt; 상용 5.81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548640" y="4434840"/>
            <a:ext cx="1109441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-219456" lvl="0" marL="219456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입력 24건 × 2회(모델마다 답 48개) · 같은 분류 결과와 같은 지침 · 품질은 모델 이름을 가린 4항목 채점. 이 비교의 채점 중 10건을 사람이 확인해</a:t>
            </a:r>
            <a:br>
              <a:rPr sz="1300"/>
            </a:b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10건 모두 일치</a:t>
            </a:r>
            <a:endParaRPr/>
          </a:p>
          <a:p>
            <a:pPr indent="-219456" lvl="0" marL="219456" marR="0" rtl="0" algn="l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비용은 토큰 수 × 공식 단가로 계산한 추정값입니다. 로컬은 장비·전력 비용을 계산하지 않았습니다.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48640" y="5742432"/>
            <a:ext cx="11094415" cy="53035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로컬이 2배 빠르고, 요금이 없고, 댓글이 노트북 밖으로 나가지 않습니다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548640" y="34747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06  한계를 찾아 고친 것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놓친 나쁜 답을 원인별로 나눠 보고, 검사 두 가지를 더했습니다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bench01 · 자유주제: 악성댓글 분류 + 순화</a:t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48640" y="1508760"/>
            <a:ext cx="5074920" cy="16002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원인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고친 댓글을 다시 검사하는 것만으로는 나쁜 답 20개 중</a:t>
            </a:r>
            <a:b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7개만 잡았습니다. 놓친 13개 중 12개는 분류 모델이 악플을</a:t>
            </a:r>
            <a:b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'문제 없음'으로 고른 경우였습니다.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548640" y="3246120"/>
            <a:ext cx="5074920" cy="2286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더한 검사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데이터로 고르고, 최종 비교에서 한 번만 측정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① 확신도 규칙 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'문제 없음'인데 확신도가 0.93보다 낮으면</a:t>
            </a:r>
            <a:b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사람 검토. 기준값은 validation으로 고름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② 뜻 검사 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판정 모델 qwen3:4b-instruct가 원문과 고친</a:t>
            </a:r>
            <a:b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댓글을 비교해 뜻이 바뀌면 사람 검토. 후보 11개를 비교함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2626"/>
                </a:solidFill>
                <a:latin typeface="Noto Sans KR"/>
                <a:ea typeface="Noto Sans KR"/>
                <a:cs typeface="Noto Sans KR"/>
                <a:sym typeface="Noto Sans KR"/>
              </a:rPr>
              <a:t>※ 뜻 검사가 더 잡은 건 1건(15→16)뿐이라 효과는 작습니다</a:t>
            </a:r>
            <a:endParaRPr/>
          </a:p>
        </p:txBody>
      </p:sp>
      <p:pic>
        <p:nvPicPr>
          <p:cNvPr descr="chart_review_rules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880" y="1417320"/>
            <a:ext cx="5760720" cy="334744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548640" y="5742432"/>
            <a:ext cx="11094415" cy="53035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대가: 사람 검토 12% → 33% · 12건 처리 11초 → 16~23초 · GPU 5.1GB → 7.7GB(8GB 중)</a:t>
            </a:r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989320" y="4846320"/>
            <a:ext cx="5650992" cy="777240"/>
          </a:xfrm>
          <a:prstGeom prst="rect">
            <a:avLst/>
          </a:prstGeom>
          <a:noFill/>
        </p:spPr>
        <p:txBody>
          <a:bodyPr wrap="square" lIns="45720" rIns="45720" tIns="27432" bIns="27432">
            <a:noAutofit/>
          </a:bodyPr>
          <a:lstStyle/>
          <a:p>
            <a:pPr eaLnBrk="0"/>
            <a:r>
              <a:rPr sz="120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최종 비교의 답 96개(입력 24건 × 2회 × 두 모델) 중 나쁜 답(4점 이하) 20개와 좋은</a:t>
            </a:r>
            <a:br/>
            <a:r>
              <a:rPr sz="120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답(8점) 54개를 셌습니다. 중간 점수(5~7점) 22개는 두 그래프에 넣지 않았습니다.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/>
        </p:nvSpPr>
        <p:spPr>
          <a:xfrm>
            <a:off x="548640" y="34747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07  시연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업무용 검수 콘솔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bench01 · 자유주제: 악성댓글 분류 + 순화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548640" y="1600200"/>
            <a:ext cx="6949440" cy="391363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46300" lIns="201150" spcFirstLastPara="1" rIns="201150" wrap="square" tIns="1463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여기에 시연 영상을 넣으세요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구글 슬라이드: 삽입 → 동영상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7818120" y="1554480"/>
            <a:ext cx="3824935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영상 순서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 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단건 검수: 표현만 고쳐 '순화 후 게시'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 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혐오 표현: '게시 보류' + 글쓴이 안내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3 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비꼬는 댓글: 확신도가 낮아 '사람 검토'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4 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뜻이 바뀐 답: 뜻 검사가 잡아 '사람 검토'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5 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대량 검수: CSV 12건을 4개씩 동시에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6 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처리 기준: 라벨별 지침과 세 가지 검사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화면의 댓글은 직접 만든 예시입니다.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548640" y="5742432"/>
            <a:ext cx="11094415" cy="53035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단건·대량 검수 모두 판정, 권장 조치, 사람 검토 이유를 함께 보여 줍니다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/>
        </p:nvSpPr>
        <p:spPr>
          <a:xfrm>
            <a:off x="548640" y="34747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08  한계와 다음 단계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남은 한계와 다음에 할 일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bench01 · 자유주제: 악성댓글 분류 + 순화</a:t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548640" y="1508760"/>
            <a:ext cx="6583680" cy="402336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남은 한계</a:t>
            </a:r>
            <a:endParaRPr/>
          </a:p>
          <a:p>
            <a:pPr indent="-219456" lvl="0" marL="219456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hate 댓글에 약합니다. 로컬 hate 점수 4.75(상용 5.81). 혐오 표현을</a:t>
            </a:r>
            <a:b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정중한 말로 바꿔 남긴 사례가 있었습니다.</a:t>
            </a:r>
            <a:endParaRPr/>
          </a:p>
          <a:p>
            <a:pPr indent="-219456" lvl="0" marL="219456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분류 모델이 확신하며 틀리면 못 잡습니다. 확신도 0.96으로 '문제</a:t>
            </a:r>
            <a:b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없음'을 고른 악플은 그대로 게시됐습니다.</a:t>
            </a:r>
            <a:endParaRPr/>
          </a:p>
          <a:p>
            <a:pPr indent="-219456" lvl="0" marL="219456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뜻 검사는 아직 믿기 어렵습니다. 판정 모델 11개 모두 점수의 95%</a:t>
            </a:r>
            <a:b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구간이 0을 포함했고, 실제로 더 잡은 것도 1건입니다.</a:t>
            </a:r>
            <a:endParaRPr/>
          </a:p>
          <a:p>
            <a:pPr indent="-219456" lvl="0" marL="219456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채점은 LLM(Claude)이 했습니다. 사람이 두 비교에서 10건씩, 모두</a:t>
            </a:r>
            <a:br>
              <a:rPr sz="1500"/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20건(로컬 모델 고르기 10, 로컬 vs 상용 10)을 확인해 모두 일치했지만,</a:t>
            </a:r>
            <a:br>
              <a:rPr sz="1500"/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전부 다시 채점하지는 않았습니다.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7360920" y="1508760"/>
            <a:ext cx="4282135" cy="402336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t" bIns="146300" lIns="201150" spcFirstLastPara="1" rIns="201150" wrap="square" tIns="1463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다음 단계</a:t>
            </a:r>
            <a:endParaRPr/>
          </a:p>
          <a:p>
            <a:pPr indent="-219456" lvl="0" marL="219456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hate는 고쳐 쓰지 않고 게시를 보류하는</a:t>
            </a:r>
            <a:b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정책 시험</a:t>
            </a:r>
            <a:endParaRPr/>
          </a:p>
          <a:p>
            <a:pPr indent="-219456" lvl="0" marL="219456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offensive와 hate를 더 잘 가르는 분류 모델</a:t>
            </a:r>
            <a:b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(분류 오류가 순화와 검사에 그대로 이어짐)</a:t>
            </a:r>
            <a:endParaRPr/>
          </a:p>
          <a:p>
            <a:pPr indent="-219456" lvl="0" marL="219456" marR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뜻 검사 프롬프트를 여러 개 비교하고,</a:t>
            </a:r>
            <a:b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댓글이 아닌 안내문을 따로 가려내기</a:t>
            </a:r>
            <a:b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(효과가 작으면 빼서 GPU 부담 줄이기)</a:t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548640" y="5742432"/>
            <a:ext cx="11094415" cy="53035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결과와 실행 방법: GitHub의 artifacts/step_by_step/comments/bench01/README.md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